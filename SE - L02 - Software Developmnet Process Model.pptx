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3"/>
  </p:notesMasterIdLst>
  <p:sldIdLst>
    <p:sldId id="256" r:id="rId2"/>
    <p:sldId id="293" r:id="rId3"/>
    <p:sldId id="296" r:id="rId4"/>
    <p:sldId id="298" r:id="rId5"/>
    <p:sldId id="299" r:id="rId6"/>
    <p:sldId id="303" r:id="rId7"/>
    <p:sldId id="304" r:id="rId8"/>
    <p:sldId id="295" r:id="rId9"/>
    <p:sldId id="311" r:id="rId10"/>
    <p:sldId id="312" r:id="rId11"/>
    <p:sldId id="31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40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3" autoAdjust="0"/>
    <p:restoredTop sz="93447" autoAdjust="0"/>
  </p:normalViewPr>
  <p:slideViewPr>
    <p:cSldViewPr snapToGrid="0">
      <p:cViewPr varScale="1">
        <p:scale>
          <a:sx n="60" d="100"/>
          <a:sy n="60" d="100"/>
        </p:scale>
        <p:origin x="720" y="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kat Baul" userId="dae859d7-ea3e-4a5d-83a1-d953f3940120" providerId="ADAL" clId="{7605EC7F-3B32-4E41-BE4A-835A1D748A76}"/>
    <pc:docChg chg="modSld">
      <pc:chgData name="Saikat Baul" userId="dae859d7-ea3e-4a5d-83a1-d953f3940120" providerId="ADAL" clId="{7605EC7F-3B32-4E41-BE4A-835A1D748A76}" dt="2026-02-08T07:56:00.121" v="0" actId="20577"/>
      <pc:docMkLst>
        <pc:docMk/>
      </pc:docMkLst>
      <pc:sldChg chg="modSp mod">
        <pc:chgData name="Saikat Baul" userId="dae859d7-ea3e-4a5d-83a1-d953f3940120" providerId="ADAL" clId="{7605EC7F-3B32-4E41-BE4A-835A1D748A76}" dt="2026-02-08T07:56:00.121" v="0" actId="20577"/>
        <pc:sldMkLst>
          <pc:docMk/>
          <pc:sldMk cId="1567044653" sldId="303"/>
        </pc:sldMkLst>
        <pc:spChg chg="mod">
          <ac:chgData name="Saikat Baul" userId="dae859d7-ea3e-4a5d-83a1-d953f3940120" providerId="ADAL" clId="{7605EC7F-3B32-4E41-BE4A-835A1D748A76}" dt="2026-02-08T07:56:00.121" v="0" actId="20577"/>
          <ac:spMkLst>
            <pc:docMk/>
            <pc:sldMk cId="1567044653" sldId="303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08/02/2026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937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05791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1. Inception Phase: </a:t>
            </a:r>
            <a:r>
              <a:rPr lang="en-US" dirty="0"/>
              <a:t>Define project scope, objectives, and business case. Identify key requirements and risks and create initial plans.</a:t>
            </a:r>
          </a:p>
          <a:p>
            <a:r>
              <a:rPr lang="en-US" b="1" dirty="0"/>
              <a:t>2. Elaboration Phase: </a:t>
            </a:r>
            <a:r>
              <a:rPr lang="en-US" dirty="0"/>
              <a:t>Refine requirements and validate system architecture. Mitigate risks and plan the construction phase.</a:t>
            </a:r>
          </a:p>
          <a:p>
            <a:r>
              <a:rPr lang="en-US" b="1" dirty="0"/>
              <a:t>3. Construction Phase: </a:t>
            </a:r>
            <a:r>
              <a:rPr lang="en-US" dirty="0"/>
              <a:t>Develop, integrate, and test system components. Ensure functionality and quality through iterative builds.</a:t>
            </a:r>
          </a:p>
          <a:p>
            <a:r>
              <a:rPr lang="en-US" b="1" dirty="0"/>
              <a:t>4. Transition Phase: </a:t>
            </a:r>
            <a:r>
              <a:rPr lang="en-US" dirty="0"/>
              <a:t>Deploy the product and train users. </a:t>
            </a:r>
            <a:r>
              <a:rPr lang="en-US"/>
              <a:t>Address defects and gather user feedback.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7773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aikatbaul@aiub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hyperlink" Target="https://scholar.google.co.in/citations?user=4oWx7ZcAAAAJ&amp;hl=en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768267" y="1009397"/>
            <a:ext cx="3078342" cy="480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 dirty="0">
                <a:solidFill>
                  <a:srgbClr val="FFFFFF"/>
                </a:solidFill>
              </a:rPr>
              <a:t>Course Name</a:t>
            </a:r>
            <a:br>
              <a:rPr lang="en-US" sz="2400" cap="all" dirty="0">
                <a:solidFill>
                  <a:srgbClr val="FFFFFF"/>
                </a:solidFill>
              </a:rPr>
            </a:br>
            <a:br>
              <a:rPr lang="en-US" sz="2400" cap="all" dirty="0">
                <a:solidFill>
                  <a:srgbClr val="FFFFFF"/>
                </a:solidFill>
              </a:rPr>
            </a:br>
            <a:r>
              <a:rPr lang="en-US" sz="2400" cap="all" dirty="0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>
                <a:solidFill>
                  <a:srgbClr val="C00000"/>
                </a:solidFill>
              </a:rPr>
              <a:t>Chapter 2</a:t>
            </a:r>
            <a:br>
              <a:rPr lang="en-US" sz="3000" dirty="0">
                <a:solidFill>
                  <a:srgbClr val="C00000"/>
                </a:solidFill>
              </a:rPr>
            </a:b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software development process model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56617353-D5FE-73A3-2F04-327E6A6CCE0B}"/>
              </a:ext>
            </a:extLst>
          </p:cNvPr>
          <p:cNvGrpSpPr/>
          <p:nvPr/>
        </p:nvGrpSpPr>
        <p:grpSpPr>
          <a:xfrm>
            <a:off x="4471587" y="4672800"/>
            <a:ext cx="7237813" cy="1696591"/>
            <a:chOff x="4471587" y="4672800"/>
            <a:chExt cx="7237813" cy="1696591"/>
          </a:xfrm>
        </p:grpSpPr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15690BF5-02E4-7D00-0B94-72E46F770A4B}"/>
                </a:ext>
              </a:extLst>
            </p:cNvPr>
            <p:cNvSpPr txBox="1">
              <a:spLocks/>
            </p:cNvSpPr>
            <p:nvPr/>
          </p:nvSpPr>
          <p:spPr>
            <a:xfrm>
              <a:off x="8849074" y="4697932"/>
              <a:ext cx="2860326" cy="164632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457200" rtl="0" eaLnBrk="1" latinLnBrk="0" hangingPunct="1">
                <a:spcBef>
                  <a:spcPct val="0"/>
                </a:spcBef>
                <a:buNone/>
                <a:defRPr sz="2800" b="0" kern="1200" cap="all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algn="r"/>
              <a:r>
                <a:rPr lang="en-US" sz="2400" dirty="0">
                  <a:solidFill>
                    <a:srgbClr val="7030A0"/>
                  </a:solidFill>
                </a:rPr>
                <a:t>Saikat Baul</a:t>
              </a:r>
            </a:p>
            <a:p>
              <a:pPr algn="r"/>
              <a:r>
                <a:rPr lang="en-US" sz="2000" dirty="0">
                  <a:solidFill>
                    <a:schemeClr val="tx1"/>
                  </a:solidFill>
                </a:rPr>
                <a:t>Lecturer, CS,  AIUB</a:t>
              </a:r>
            </a:p>
            <a:p>
              <a:pPr algn="r"/>
              <a:r>
                <a:rPr lang="en-US" sz="2000" cap="none" dirty="0">
                  <a:solidFill>
                    <a:schemeClr val="tx1"/>
                  </a:solidFill>
                  <a:hlinkClick r:id="rId3"/>
                </a:rPr>
                <a:t>saikatbaul@aiub.edu</a:t>
              </a:r>
              <a:r>
                <a:rPr lang="en-US" sz="2000" cap="none" dirty="0">
                  <a:solidFill>
                    <a:schemeClr val="tx1"/>
                  </a:solidFill>
                </a:rPr>
                <a:t> </a:t>
              </a:r>
              <a:endParaRPr lang="en-US" sz="2300" cap="none" dirty="0"/>
            </a:p>
          </p:txBody>
        </p:sp>
        <p:pic>
          <p:nvPicPr>
            <p:cNvPr id="7" name="Picture 2" descr="Google Scholar Logo PNG Vector (AI, PDF ...">
              <a:hlinkClick r:id="rId4"/>
              <a:extLst>
                <a:ext uri="{FF2B5EF4-FFF2-40B4-BE49-F238E27FC236}">
                  <a16:creationId xmlns:a16="http://schemas.microsoft.com/office/drawing/2014/main" id="{4C921F6C-DE57-9323-E5B7-C26703D810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71587" y="4672800"/>
              <a:ext cx="1696591" cy="16965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3261" y="2024743"/>
            <a:ext cx="10652865" cy="223410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sz="2200" dirty="0">
                <a:latin typeface="+mj-lt"/>
              </a:rPr>
              <a:t>A structured set of activities required to develop a software system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sz="2200" dirty="0">
                <a:latin typeface="+mj-lt"/>
              </a:rPr>
              <a:t>A software process model is an abstract representation of a process.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sz="2200" dirty="0">
                <a:latin typeface="+mj-lt"/>
              </a:rPr>
              <a:t>It presents a description of a process from some particular perspective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Waterfall model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65738" y="1996441"/>
            <a:ext cx="9241302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957943" y="3154016"/>
            <a:ext cx="10652865" cy="356483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GB" sz="2200" b="1" dirty="0">
                <a:latin typeface="+mj-lt"/>
                <a:cs typeface="Times New Roman" panose="02020603050405020304" pitchFamily="18" charset="0"/>
              </a:rPr>
              <a:t>The waterfall or linear sequential model 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Problems of the Waterfall Model</a:t>
            </a:r>
            <a:r>
              <a:rPr lang="en-GB" sz="2200" dirty="0">
                <a:latin typeface="+mj-lt"/>
                <a:cs typeface="Times New Roman" panose="02020603050405020304" pitchFamily="18" charset="0"/>
              </a:rPr>
              <a:t> 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200" dirty="0">
                <a:latin typeface="+mj-lt"/>
                <a:cs typeface="Times New Roman" panose="02020603050405020304" pitchFamily="18" charset="0"/>
              </a:rPr>
              <a:t>Inflexible partitioning of the project into distinct stages. The </a:t>
            </a:r>
            <a:r>
              <a:rPr lang="en-US" sz="2200" dirty="0">
                <a:latin typeface="+mj-lt"/>
                <a:cs typeface="Times New Roman" panose="02020603050405020304" pitchFamily="18" charset="0"/>
              </a:rPr>
              <a:t>next phase starts only after the completion of the previous phase</a:t>
            </a:r>
            <a:endParaRPr lang="en-GB" sz="2200" dirty="0">
              <a:latin typeface="+mj-lt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 sz="2200" dirty="0">
                <a:latin typeface="+mj-lt"/>
                <a:cs typeface="Times New Roman" panose="02020603050405020304" pitchFamily="18" charset="0"/>
              </a:rPr>
              <a:t>This makes it difficult to respond to changing customer requirements (no backtracking)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200" dirty="0">
                <a:latin typeface="+mj-lt"/>
                <a:cs typeface="Times New Roman" panose="02020603050405020304" pitchFamily="18" charset="0"/>
              </a:rPr>
              <a:t>Therefore, this model is only appropriate when the requirements are well-understood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03E40-ADDA-0C78-EA84-D404D5D51F3A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731836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 -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745" y="1941341"/>
            <a:ext cx="6206096" cy="4389121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The V-model is an SDLC model in which process execution happens sequentially in a V-shape. It is also known as a </a:t>
            </a:r>
            <a:r>
              <a:rPr lang="en-US" sz="2000" dirty="0">
                <a:solidFill>
                  <a:srgbClr val="C00000"/>
                </a:solidFill>
                <a:latin typeface="+mj-lt"/>
              </a:rPr>
              <a:t>Verification and Validation </a:t>
            </a:r>
            <a:r>
              <a:rPr lang="en-US" sz="2000" dirty="0">
                <a:latin typeface="+mj-lt"/>
              </a:rPr>
              <a:t>model.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V-Model is an extension of the waterfall model and is based on an association of a </a:t>
            </a:r>
            <a:r>
              <a:rPr lang="en-US" sz="2000" dirty="0">
                <a:solidFill>
                  <a:srgbClr val="C00000"/>
                </a:solidFill>
                <a:latin typeface="+mj-lt"/>
              </a:rPr>
              <a:t>testing phase </a:t>
            </a:r>
            <a:r>
              <a:rPr lang="en-US" sz="2000" dirty="0">
                <a:latin typeface="+mj-lt"/>
              </a:rPr>
              <a:t>for each corresponding development stage. This means that every single phase in the development cycle has a directly associated testing phase.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This is a highly disciplined model, and the next phase starts only after the completion of the previous phase.</a:t>
            </a:r>
            <a:endParaRPr lang="en-GB" sz="2000" dirty="0"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7040011" y="2330539"/>
            <a:ext cx="4726166" cy="3637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B2F2794-2A4A-41F1-381E-0501570FF32B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3925133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Prototyping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567" y="1887565"/>
            <a:ext cx="6492109" cy="471201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GB" sz="2200" dirty="0">
                <a:latin typeface="+mj-lt"/>
              </a:rPr>
              <a:t>Requirements are not precise, and the p</a:t>
            </a:r>
            <a:r>
              <a:rPr lang="en-GB" sz="2200" dirty="0"/>
              <a:t>rototype serves as a mechanism for identifying software requirements</a:t>
            </a:r>
            <a:endParaRPr lang="en-GB" sz="2200" dirty="0">
              <a:latin typeface="+mj-lt"/>
            </a:endParaRPr>
          </a:p>
          <a:p>
            <a:pPr>
              <a:buFont typeface="Wingdings" pitchFamily="2" charset="2"/>
              <a:buChar char="q"/>
            </a:pPr>
            <a:r>
              <a:rPr lang="en-GB" sz="2200" dirty="0">
                <a:latin typeface="+mj-lt"/>
              </a:rPr>
              <a:t>Iteration occurs as the prototype is tuned to satisfy the needs of the customer</a:t>
            </a:r>
          </a:p>
          <a:p>
            <a:pPr>
              <a:buFont typeface="Wingdings" pitchFamily="2" charset="2"/>
              <a:buChar char="q"/>
            </a:pPr>
            <a:r>
              <a:rPr lang="en-GB" sz="2200" dirty="0"/>
              <a:t>System requirements ALWAYS evolve during a project, so process iteration is proper where earlier stages are reworked and is always part of the process for large systems</a:t>
            </a:r>
            <a:endParaRPr lang="en-GB" sz="2200" dirty="0"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61676" y="1887565"/>
            <a:ext cx="4254944" cy="36647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CDD077-DB25-5B43-C3F8-958B39DDA0A0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2769073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58955"/>
            <a:ext cx="11029616" cy="1013800"/>
          </a:xfrm>
        </p:spPr>
        <p:txBody>
          <a:bodyPr>
            <a:normAutofit/>
          </a:bodyPr>
          <a:lstStyle/>
          <a:p>
            <a:r>
              <a:rPr lang="en-GB" dirty="0"/>
              <a:t>Incremental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555" y="1920241"/>
            <a:ext cx="11109622" cy="2129244"/>
          </a:xfrm>
        </p:spPr>
        <p:txBody>
          <a:bodyPr>
            <a:normAutofit fontScale="92500"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 dirty="0">
                <a:latin typeface="+mj-lt"/>
              </a:rPr>
              <a:t>Rather than </a:t>
            </a:r>
            <a:r>
              <a:rPr lang="en-US" sz="2000" dirty="0">
                <a:latin typeface="+mj-lt"/>
              </a:rPr>
              <a:t>delivering the system as a single delivery, development and </a:t>
            </a:r>
            <a:r>
              <a:rPr lang="en-US" sz="2000" dirty="0">
                <a:solidFill>
                  <a:srgbClr val="C00000"/>
                </a:solidFill>
                <a:latin typeface="+mj-lt"/>
              </a:rPr>
              <a:t>delivery are broken down into increments,</a:t>
            </a:r>
            <a:r>
              <a:rPr lang="en-GB" sz="2000" dirty="0">
                <a:latin typeface="+mj-lt"/>
              </a:rPr>
              <a:t> with each increment delivering part of the </a:t>
            </a:r>
            <a:r>
              <a:rPr lang="en-GB" sz="2000">
                <a:latin typeface="+mj-lt"/>
              </a:rPr>
              <a:t>required functionality. </a:t>
            </a:r>
            <a:endParaRPr lang="en-GB" sz="2000" dirty="0">
              <a:latin typeface="+mj-lt"/>
            </a:endParaRP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 dirty="0">
                <a:latin typeface="+mj-lt"/>
              </a:rPr>
              <a:t>T</a:t>
            </a:r>
            <a:r>
              <a:rPr lang="en-US" sz="2000" dirty="0"/>
              <a:t>he requirements are relatively certain but there are many complexities that leads to frequent changes.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 dirty="0">
                <a:latin typeface="+mj-lt"/>
              </a:rPr>
              <a:t>User requirements are prioritized, and the </a:t>
            </a:r>
            <a:r>
              <a:rPr lang="en-GB" sz="2000" dirty="0">
                <a:solidFill>
                  <a:srgbClr val="C00000"/>
                </a:solidFill>
                <a:latin typeface="+mj-lt"/>
              </a:rPr>
              <a:t>highest priority requirements</a:t>
            </a:r>
            <a:r>
              <a:rPr lang="en-GB" sz="2000" dirty="0">
                <a:latin typeface="+mj-lt"/>
              </a:rPr>
              <a:t> are included in early increments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 dirty="0">
                <a:latin typeface="+mj-lt"/>
              </a:rPr>
              <a:t>Once the development of an increment is started, the </a:t>
            </a:r>
            <a:r>
              <a:rPr lang="en-GB" sz="2000" dirty="0">
                <a:solidFill>
                  <a:srgbClr val="C00000"/>
                </a:solidFill>
                <a:latin typeface="+mj-lt"/>
              </a:rPr>
              <a:t>requirements are frozen</a:t>
            </a:r>
            <a:r>
              <a:rPr lang="en-GB" sz="2000" dirty="0">
                <a:latin typeface="+mj-lt"/>
              </a:rPr>
              <a:t> though requirements for later increments can continue to evolve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7" name="Group 12"/>
          <p:cNvGrpSpPr>
            <a:grpSpLocks/>
          </p:cNvGrpSpPr>
          <p:nvPr/>
        </p:nvGrpSpPr>
        <p:grpSpPr bwMode="auto">
          <a:xfrm>
            <a:off x="3801291" y="4271554"/>
            <a:ext cx="6489700" cy="570410"/>
            <a:chOff x="960" y="1248"/>
            <a:chExt cx="4088" cy="432"/>
          </a:xfrm>
        </p:grpSpPr>
        <p:sp>
          <p:nvSpPr>
            <p:cNvPr id="8" name="Rectangle 3"/>
            <p:cNvSpPr>
              <a:spLocks noChangeArrowheads="1"/>
            </p:cNvSpPr>
            <p:nvPr/>
          </p:nvSpPr>
          <p:spPr bwMode="auto">
            <a:xfrm>
              <a:off x="9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Analysis</a:t>
              </a:r>
            </a:p>
          </p:txBody>
        </p:sp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1728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Design</a:t>
              </a:r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2544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Code</a:t>
              </a:r>
            </a:p>
          </p:txBody>
        </p:sp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33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Test</a:t>
              </a:r>
            </a:p>
          </p:txBody>
        </p:sp>
        <p:sp>
          <p:nvSpPr>
            <p:cNvPr id="12" name="Text Box 8"/>
            <p:cNvSpPr txBox="1">
              <a:spLocks noChangeArrowheads="1"/>
            </p:cNvSpPr>
            <p:nvPr/>
          </p:nvSpPr>
          <p:spPr bwMode="auto">
            <a:xfrm>
              <a:off x="4176" y="1248"/>
              <a:ext cx="872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>
                  <a:latin typeface="Calibri" pitchFamily="34" charset="0"/>
                </a:rPr>
                <a:t>Delivery</a:t>
              </a:r>
            </a:p>
            <a:p>
              <a:r>
                <a:rPr lang="en-GB">
                  <a:latin typeface="Calibri" pitchFamily="34" charset="0"/>
                </a:rPr>
                <a:t>increment #1</a:t>
              </a:r>
            </a:p>
          </p:txBody>
        </p:sp>
      </p:grpSp>
      <p:sp>
        <p:nvSpPr>
          <p:cNvPr id="13" name="Line 9"/>
          <p:cNvSpPr>
            <a:spLocks noChangeShapeType="1"/>
          </p:cNvSpPr>
          <p:nvPr/>
        </p:nvSpPr>
        <p:spPr bwMode="auto">
          <a:xfrm flipH="1">
            <a:off x="3572690" y="4284616"/>
            <a:ext cx="45719" cy="225747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Line 10"/>
          <p:cNvSpPr>
            <a:spLocks noChangeShapeType="1"/>
          </p:cNvSpPr>
          <p:nvPr/>
        </p:nvSpPr>
        <p:spPr bwMode="auto">
          <a:xfrm>
            <a:off x="3572691" y="6553200"/>
            <a:ext cx="762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6909616" y="6553200"/>
            <a:ext cx="11874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>
                <a:latin typeface="Calibri" pitchFamily="34" charset="0"/>
              </a:rPr>
              <a:t>Calendar time</a:t>
            </a:r>
          </a:p>
        </p:txBody>
      </p:sp>
      <p:grpSp>
        <p:nvGrpSpPr>
          <p:cNvPr id="16" name="Group 13"/>
          <p:cNvGrpSpPr>
            <a:grpSpLocks/>
          </p:cNvGrpSpPr>
          <p:nvPr/>
        </p:nvGrpSpPr>
        <p:grpSpPr bwMode="auto">
          <a:xfrm>
            <a:off x="4638261" y="4976949"/>
            <a:ext cx="6808793" cy="677091"/>
            <a:chOff x="960" y="1248"/>
            <a:chExt cx="4088" cy="432"/>
          </a:xfrm>
        </p:grpSpPr>
        <p:sp>
          <p:nvSpPr>
            <p:cNvPr id="17" name="Rectangle 14"/>
            <p:cNvSpPr>
              <a:spLocks noChangeArrowheads="1"/>
            </p:cNvSpPr>
            <p:nvPr/>
          </p:nvSpPr>
          <p:spPr bwMode="auto">
            <a:xfrm>
              <a:off x="9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Analysis</a:t>
              </a:r>
            </a:p>
          </p:txBody>
        </p:sp>
        <p:sp>
          <p:nvSpPr>
            <p:cNvPr id="18" name="Rectangle 15"/>
            <p:cNvSpPr>
              <a:spLocks noChangeArrowheads="1"/>
            </p:cNvSpPr>
            <p:nvPr/>
          </p:nvSpPr>
          <p:spPr bwMode="auto">
            <a:xfrm>
              <a:off x="1728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Design</a:t>
              </a:r>
            </a:p>
          </p:txBody>
        </p:sp>
        <p:sp>
          <p:nvSpPr>
            <p:cNvPr id="19" name="Rectangle 16"/>
            <p:cNvSpPr>
              <a:spLocks noChangeArrowheads="1"/>
            </p:cNvSpPr>
            <p:nvPr/>
          </p:nvSpPr>
          <p:spPr bwMode="auto">
            <a:xfrm>
              <a:off x="2544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Code</a:t>
              </a:r>
            </a:p>
          </p:txBody>
        </p:sp>
        <p:sp>
          <p:nvSpPr>
            <p:cNvPr id="20" name="Rectangle 17"/>
            <p:cNvSpPr>
              <a:spLocks noChangeArrowheads="1"/>
            </p:cNvSpPr>
            <p:nvPr/>
          </p:nvSpPr>
          <p:spPr bwMode="auto">
            <a:xfrm>
              <a:off x="33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Test</a:t>
              </a:r>
            </a:p>
          </p:txBody>
        </p:sp>
        <p:sp>
          <p:nvSpPr>
            <p:cNvPr id="21" name="Text Box 18"/>
            <p:cNvSpPr txBox="1">
              <a:spLocks noChangeArrowheads="1"/>
            </p:cNvSpPr>
            <p:nvPr/>
          </p:nvSpPr>
          <p:spPr bwMode="auto">
            <a:xfrm>
              <a:off x="4176" y="1248"/>
              <a:ext cx="872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>
                  <a:latin typeface="Calibri" pitchFamily="34" charset="0"/>
                </a:rPr>
                <a:t>Delivery</a:t>
              </a:r>
            </a:p>
            <a:p>
              <a:r>
                <a:rPr lang="en-GB">
                  <a:latin typeface="Calibri" pitchFamily="34" charset="0"/>
                </a:rPr>
                <a:t>increment #2</a:t>
              </a:r>
            </a:p>
          </p:txBody>
        </p:sp>
      </p:grpSp>
      <p:grpSp>
        <p:nvGrpSpPr>
          <p:cNvPr id="22" name="Group 19"/>
          <p:cNvGrpSpPr>
            <a:grpSpLocks/>
          </p:cNvGrpSpPr>
          <p:nvPr/>
        </p:nvGrpSpPr>
        <p:grpSpPr bwMode="auto">
          <a:xfrm>
            <a:off x="5406887" y="5865222"/>
            <a:ext cx="6552652" cy="535577"/>
            <a:chOff x="960" y="1248"/>
            <a:chExt cx="3931" cy="432"/>
          </a:xfrm>
        </p:grpSpPr>
        <p:sp>
          <p:nvSpPr>
            <p:cNvPr id="23" name="Rectangle 20"/>
            <p:cNvSpPr>
              <a:spLocks noChangeArrowheads="1"/>
            </p:cNvSpPr>
            <p:nvPr/>
          </p:nvSpPr>
          <p:spPr bwMode="auto">
            <a:xfrm>
              <a:off x="9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Analysis</a:t>
              </a:r>
            </a:p>
          </p:txBody>
        </p:sp>
        <p:sp>
          <p:nvSpPr>
            <p:cNvPr id="24" name="Rectangle 21"/>
            <p:cNvSpPr>
              <a:spLocks noChangeArrowheads="1"/>
            </p:cNvSpPr>
            <p:nvPr/>
          </p:nvSpPr>
          <p:spPr bwMode="auto">
            <a:xfrm>
              <a:off x="1728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Design</a:t>
              </a:r>
            </a:p>
          </p:txBody>
        </p:sp>
        <p:sp>
          <p:nvSpPr>
            <p:cNvPr id="25" name="Rectangle 22"/>
            <p:cNvSpPr>
              <a:spLocks noChangeArrowheads="1"/>
            </p:cNvSpPr>
            <p:nvPr/>
          </p:nvSpPr>
          <p:spPr bwMode="auto">
            <a:xfrm>
              <a:off x="2544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Code</a:t>
              </a:r>
            </a:p>
          </p:txBody>
        </p:sp>
        <p:sp>
          <p:nvSpPr>
            <p:cNvPr id="26" name="Rectangle 23"/>
            <p:cNvSpPr>
              <a:spLocks noChangeArrowheads="1"/>
            </p:cNvSpPr>
            <p:nvPr/>
          </p:nvSpPr>
          <p:spPr bwMode="auto">
            <a:xfrm>
              <a:off x="33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Test</a:t>
              </a:r>
            </a:p>
          </p:txBody>
        </p:sp>
        <p:sp>
          <p:nvSpPr>
            <p:cNvPr id="27" name="Text Box 24"/>
            <p:cNvSpPr txBox="1">
              <a:spLocks noChangeArrowheads="1"/>
            </p:cNvSpPr>
            <p:nvPr/>
          </p:nvSpPr>
          <p:spPr bwMode="auto">
            <a:xfrm>
              <a:off x="4108" y="1248"/>
              <a:ext cx="783" cy="2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GB" dirty="0">
                  <a:latin typeface="Calibri" pitchFamily="34" charset="0"/>
                </a:rPr>
                <a:t>Delivery #3</a:t>
              </a:r>
            </a:p>
          </p:txBody>
        </p:sp>
      </p:grp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9C10A0D-78A2-BF7F-A7E4-9820261191BA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1567044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Incremental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555" y="1998618"/>
            <a:ext cx="11034702" cy="309021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GB" sz="2000" b="1" dirty="0">
                <a:latin typeface="+mj-lt"/>
              </a:rPr>
              <a:t>Advantages of Incremental Development</a:t>
            </a:r>
          </a:p>
          <a:p>
            <a:pPr>
              <a:buFont typeface="Wingdings" pitchFamily="2" charset="2"/>
              <a:buChar char="§"/>
            </a:pPr>
            <a:r>
              <a:rPr lang="en-GB" sz="2000" dirty="0">
                <a:latin typeface="+mj-lt"/>
              </a:rPr>
              <a:t>Customer value can be delivered with each increment, so system functionality is available earlier</a:t>
            </a:r>
          </a:p>
          <a:p>
            <a:pPr>
              <a:buFont typeface="Wingdings" pitchFamily="2" charset="2"/>
              <a:buChar char="§"/>
            </a:pPr>
            <a:r>
              <a:rPr lang="en-GB" sz="2000" dirty="0"/>
              <a:t>Deliver the core product first</a:t>
            </a:r>
            <a:endParaRPr lang="en-GB" sz="2000" dirty="0">
              <a:latin typeface="+mj-lt"/>
            </a:endParaRPr>
          </a:p>
          <a:p>
            <a:pPr>
              <a:buFont typeface="Wingdings" pitchFamily="2" charset="2"/>
              <a:buChar char="§"/>
            </a:pPr>
            <a:r>
              <a:rPr lang="en-GB" sz="2000" dirty="0">
                <a:latin typeface="+mj-lt"/>
              </a:rPr>
              <a:t>Early increments act as a prototype to help identify requirements for later increments</a:t>
            </a:r>
          </a:p>
          <a:p>
            <a:pPr>
              <a:buFont typeface="Wingdings" pitchFamily="2" charset="2"/>
              <a:buChar char="§"/>
            </a:pPr>
            <a:r>
              <a:rPr lang="en-GB" sz="2000" dirty="0">
                <a:latin typeface="+mj-lt"/>
              </a:rPr>
              <a:t>Lower risk of overall project failure</a:t>
            </a:r>
          </a:p>
          <a:p>
            <a:pPr>
              <a:buFont typeface="Wingdings" pitchFamily="2" charset="2"/>
              <a:buChar char="§"/>
            </a:pPr>
            <a:r>
              <a:rPr lang="en-GB" sz="2000" dirty="0">
                <a:latin typeface="+mj-lt"/>
              </a:rPr>
              <a:t>The highest-priority system services tend to receive the most testing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F4EB3A2-622F-7CEC-2009-75A20B76FC40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2476521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Rapid Application Development (RAD)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947" y="2024743"/>
            <a:ext cx="10652865" cy="4349931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/>
              <a:t>It is a type of incremental model. The developments are time-boxed, delivered, and then assembled into a working  prototype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/>
              <a:t>In the RAD model, the components or functions are </a:t>
            </a:r>
            <a:r>
              <a:rPr lang="en-US" sz="2000" dirty="0">
                <a:solidFill>
                  <a:srgbClr val="C00000"/>
                </a:solidFill>
              </a:rPr>
              <a:t>developed in parallel </a:t>
            </a:r>
            <a:r>
              <a:rPr lang="en-US" sz="2000" dirty="0"/>
              <a:t>as if they were mini projects (frozen requirements in each increment)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/>
              <a:t> This can quickly give the customer something to see and use and to provide feedback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/>
              <a:t>Delivers a fully functional system in </a:t>
            </a:r>
            <a:r>
              <a:rPr lang="en-GB" altLang="en-US" sz="2000" dirty="0">
                <a:solidFill>
                  <a:srgbClr val="C00000"/>
                </a:solidFill>
              </a:rPr>
              <a:t>90 days</a:t>
            </a:r>
            <a:r>
              <a:rPr lang="en-GB" altLang="en-US" sz="2000" dirty="0"/>
              <a:t>, give or take 30 days</a:t>
            </a:r>
            <a:r>
              <a:rPr lang="en-US" sz="2000" dirty="0"/>
              <a:t> 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altLang="en-US" sz="2000" dirty="0"/>
              <a:t>Phases of RAD are: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 dirty="0">
                <a:solidFill>
                  <a:srgbClr val="0070C0"/>
                </a:solidFill>
              </a:rPr>
              <a:t>Requirements Planning 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 dirty="0">
                <a:solidFill>
                  <a:srgbClr val="0070C0"/>
                </a:solidFill>
              </a:rPr>
              <a:t>User Design </a:t>
            </a:r>
            <a:r>
              <a:rPr lang="en-GB" altLang="en-US" sz="2000" dirty="0"/>
              <a:t>(user interacts with the system analysts)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 dirty="0">
                <a:solidFill>
                  <a:srgbClr val="0070C0"/>
                </a:solidFill>
              </a:rPr>
              <a:t>Construction</a:t>
            </a:r>
            <a:r>
              <a:rPr lang="en-GB" altLang="en-US" sz="2000" dirty="0">
                <a:solidFill>
                  <a:srgbClr val="FF0000"/>
                </a:solidFill>
              </a:rPr>
              <a:t> </a:t>
            </a:r>
            <a:r>
              <a:rPr lang="en-GB" altLang="en-US" sz="2000" dirty="0"/>
              <a:t> (program and application development)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 dirty="0">
                <a:solidFill>
                  <a:srgbClr val="0070C0"/>
                </a:solidFill>
              </a:rPr>
              <a:t>Cutover</a:t>
            </a:r>
            <a:r>
              <a:rPr lang="en-GB" altLang="en-US" sz="2000" dirty="0">
                <a:solidFill>
                  <a:srgbClr val="FF0000"/>
                </a:solidFill>
              </a:rPr>
              <a:t> </a:t>
            </a:r>
            <a:r>
              <a:rPr lang="en-GB" altLang="en-US" sz="2000" dirty="0"/>
              <a:t>(testing, changeover to new system, user training)</a:t>
            </a:r>
            <a:endParaRPr lang="en-US" sz="2200" b="1" dirty="0"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64714" cy="1053864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D6D9ECC-68FF-8D7D-811B-14DD60441EAC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1373323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Rational Unified Process (RUP)</a:t>
            </a:r>
            <a:endParaRPr lang="en-US" dirty="0">
              <a:latin typeface="Bell MT" pitchFamily="18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137" y="1920239"/>
            <a:ext cx="11299372" cy="4715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49773-2BDA-ACC8-8895-B0E381214C7B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647168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Risk profile</a:t>
            </a:r>
            <a:endParaRPr lang="en-US" dirty="0">
              <a:latin typeface="Bell MT" pitchFamily="18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39537" y="1854925"/>
            <a:ext cx="8279674" cy="4781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4E10F-2430-EE4F-3CEE-3FB90BB588DA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1561272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262563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 dirty="0">
                <a:ea typeface="ＭＳ Ｐゴシック" pitchFamily="34" charset="-128"/>
              </a:rPr>
              <a:t>R.S. Pressman &amp; Associates, Inc. (2010). </a:t>
            </a:r>
            <a:r>
              <a:rPr lang="en-US" sz="2000" i="1" dirty="0">
                <a:ea typeface="ＭＳ Ｐゴシック" pitchFamily="34" charset="-128"/>
              </a:rPr>
              <a:t>Software Engineering: A Practitioner’s Approach.</a:t>
            </a:r>
          </a:p>
          <a:p>
            <a:pPr>
              <a:defRPr/>
            </a:pPr>
            <a:r>
              <a:rPr lang="en-US" sz="2000" dirty="0"/>
              <a:t>Kelly, J. C., </a:t>
            </a:r>
            <a:r>
              <a:rPr lang="en-US" sz="2000" dirty="0" err="1"/>
              <a:t>Sherif</a:t>
            </a:r>
            <a:r>
              <a:rPr lang="en-US" sz="2000" dirty="0"/>
              <a:t>, J. S., &amp; Hops, J. (1992). An analysis of defect densities found during software inspections. </a:t>
            </a:r>
            <a:r>
              <a:rPr lang="en-US" sz="2000" i="1" dirty="0"/>
              <a:t>Journal of Systems and Software</a:t>
            </a:r>
            <a:r>
              <a:rPr lang="en-US" sz="2000" dirty="0"/>
              <a:t>, </a:t>
            </a:r>
            <a:r>
              <a:rPr lang="en-US" sz="2000" i="1" dirty="0"/>
              <a:t>17</a:t>
            </a:r>
            <a:r>
              <a:rPr lang="en-US" sz="2000" dirty="0"/>
              <a:t>(2), 111-117.</a:t>
            </a:r>
          </a:p>
          <a:p>
            <a:pPr>
              <a:defRPr/>
            </a:pPr>
            <a:r>
              <a:rPr lang="en-US" sz="2000" dirty="0"/>
              <a:t>Bhandari, I., Halliday, M. J., </a:t>
            </a:r>
            <a:r>
              <a:rPr lang="en-US" sz="2000" dirty="0" err="1"/>
              <a:t>Chaar</a:t>
            </a:r>
            <a:r>
              <a:rPr lang="en-US" sz="2000" dirty="0"/>
              <a:t>, J., </a:t>
            </a:r>
            <a:r>
              <a:rPr lang="en-US" sz="2000" dirty="0" err="1"/>
              <a:t>Chillarege</a:t>
            </a:r>
            <a:r>
              <a:rPr lang="en-US" sz="2000" dirty="0"/>
              <a:t>, R., Jones, K., Atkinson, J. S., &amp; </a:t>
            </a:r>
            <a:r>
              <a:rPr lang="en-US" sz="2000" dirty="0" err="1"/>
              <a:t>Yonezawa</a:t>
            </a:r>
            <a:r>
              <a:rPr lang="en-US" sz="2000" dirty="0"/>
              <a:t>, M. (1994).</a:t>
            </a:r>
            <a:br>
              <a:rPr lang="en-US" sz="2000" dirty="0"/>
            </a:br>
            <a:r>
              <a:rPr lang="en-US" sz="2000" dirty="0"/>
              <a:t>In-process improvement through defect data interpretation. </a:t>
            </a:r>
            <a:r>
              <a:rPr lang="en-US" sz="2000" i="1" dirty="0"/>
              <a:t>IBM Systems Journal</a:t>
            </a:r>
            <a:r>
              <a:rPr lang="en-US" sz="2000" dirty="0"/>
              <a:t>, </a:t>
            </a:r>
            <a:r>
              <a:rPr lang="en-US" sz="2000" i="1" dirty="0"/>
              <a:t>33</a:t>
            </a:r>
            <a:r>
              <a:rPr lang="en-US" sz="2000" dirty="0"/>
              <a:t>(1), 182-214.</a:t>
            </a:r>
            <a:endParaRPr lang="en-US" sz="2000" dirty="0">
              <a:ea typeface="ＭＳ Ｐゴシック" pitchFamily="34" charset="-128"/>
            </a:endParaRPr>
          </a:p>
          <a:p>
            <a:pPr>
              <a:defRPr/>
            </a:pPr>
            <a:endParaRPr lang="en-US" altLang="zh-TW" sz="20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- 14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428DD3-CABA-9384-F30E-42C6A72F954F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6403923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9E5A6124B89544BE241051D903E6FA" ma:contentTypeVersion="0" ma:contentTypeDescription="Create a new document." ma:contentTypeScope="" ma:versionID="86a234602b49f59b50d378f5a405689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4F07B1C-FCFD-48B8-9595-CA48A9E0994F}"/>
</file>

<file path=customXml/itemProps2.xml><?xml version="1.0" encoding="utf-8"?>
<ds:datastoreItem xmlns:ds="http://schemas.openxmlformats.org/officeDocument/2006/customXml" ds:itemID="{D5736657-486E-41EA-A3EB-482606CC2915}"/>
</file>

<file path=customXml/itemProps3.xml><?xml version="1.0" encoding="utf-8"?>
<ds:datastoreItem xmlns:ds="http://schemas.openxmlformats.org/officeDocument/2006/customXml" ds:itemID="{B56AC875-058F-40D3-B0B2-6302A5A0B848}"/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803</Words>
  <Application>Microsoft Office PowerPoint</Application>
  <PresentationFormat>Widescreen</PresentationFormat>
  <Paragraphs>100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ＭＳ Ｐゴシック</vt:lpstr>
      <vt:lpstr>Bell MT</vt:lpstr>
      <vt:lpstr>Calibri</vt:lpstr>
      <vt:lpstr>Gill Sans MT</vt:lpstr>
      <vt:lpstr>Wingdings</vt:lpstr>
      <vt:lpstr>Wingdings 2</vt:lpstr>
      <vt:lpstr>Dividend</vt:lpstr>
      <vt:lpstr>PowerPoint Presentation</vt:lpstr>
      <vt:lpstr>Software process</vt:lpstr>
      <vt:lpstr>Waterfall model</vt:lpstr>
      <vt:lpstr>V - model</vt:lpstr>
      <vt:lpstr>Prototyping model</vt:lpstr>
      <vt:lpstr>Incremental development</vt:lpstr>
      <vt:lpstr>Incremental development</vt:lpstr>
      <vt:lpstr>Rapid Application Development (RAD)</vt:lpstr>
      <vt:lpstr>Rational Unified Process (RUP)</vt:lpstr>
      <vt:lpstr>Risk profile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Ch.02 - Software Developmnet Process Model</dc:title>
  <dc:subject>Software Engineering</dc:subject>
  <dc:creator>M. Mahmudul Hasan</dc:creator>
  <cp:lastModifiedBy>Saikat Baul</cp:lastModifiedBy>
  <cp:revision>24</cp:revision>
  <dcterms:created xsi:type="dcterms:W3CDTF">2019-05-13T08:37:20Z</dcterms:created>
  <dcterms:modified xsi:type="dcterms:W3CDTF">2026-02-08T07:56:03Z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0x010100299E5A6124B89544BE241051D903E6FA</vt:lpwstr>
  </property>
</Properties>
</file>